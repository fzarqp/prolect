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57" r:id="rId3"/>
    <p:sldId id="260" r:id="rId4"/>
    <p:sldId id="258" r:id="rId5"/>
    <p:sldId id="264" r:id="rId6"/>
    <p:sldId id="261" r:id="rId7"/>
    <p:sldId id="265" r:id="rId8"/>
    <p:sldId id="266" r:id="rId9"/>
    <p:sldId id="267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6398" autoAdjust="0"/>
  </p:normalViewPr>
  <p:slideViewPr>
    <p:cSldViewPr snapToGrid="0">
      <p:cViewPr varScale="1">
        <p:scale>
          <a:sx n="109" d="100"/>
          <a:sy n="109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583521-7DF6-44A3-B3EC-0DD1291194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CAEA3A-18F0-44AB-96F8-03F1CF19BF6A}">
      <dgm:prSet custT="1"/>
      <dgm:spPr>
        <a:solidFill>
          <a:schemeClr val="accent6"/>
        </a:solidFill>
        <a:ln>
          <a:solidFill>
            <a:schemeClr val="accent1"/>
          </a:solidFill>
        </a:ln>
      </dgm:spPr>
      <dgm:t>
        <a:bodyPr/>
        <a:lstStyle/>
        <a:p>
          <a:r>
            <a:rPr lang="ru-RU" sz="2400" dirty="0"/>
            <a:t>Автоматизация процессов</a:t>
          </a:r>
          <a:endParaRPr lang="en-US" sz="2400" dirty="0"/>
        </a:p>
      </dgm:t>
    </dgm:pt>
    <dgm:pt modelId="{583C48C9-4711-40CD-A715-7051C13F7B65}" type="sibTrans" cxnId="{1B5AF48D-05B5-46CE-963D-D3151B87FD9C}">
      <dgm:prSet/>
      <dgm:spPr/>
      <dgm:t>
        <a:bodyPr/>
        <a:lstStyle/>
        <a:p>
          <a:endParaRPr lang="en-US"/>
        </a:p>
      </dgm:t>
    </dgm:pt>
    <dgm:pt modelId="{3EAE032B-B7D8-4B06-BF99-89ED12B990AA}" type="parTrans" cxnId="{1B5AF48D-05B5-46CE-963D-D3151B87FD9C}">
      <dgm:prSet/>
      <dgm:spPr/>
      <dgm:t>
        <a:bodyPr/>
        <a:lstStyle/>
        <a:p>
          <a:endParaRPr lang="en-US"/>
        </a:p>
      </dgm:t>
    </dgm:pt>
    <dgm:pt modelId="{DF60508B-6AC1-41B9-8E17-B773423720CD}">
      <dgm:prSet custT="1"/>
      <dgm:spPr>
        <a:solidFill>
          <a:schemeClr val="accent6"/>
        </a:solidFill>
      </dgm:spPr>
      <dgm:t>
        <a:bodyPr/>
        <a:lstStyle/>
        <a:p>
          <a:r>
            <a:rPr lang="ru-RU" sz="2400" dirty="0"/>
            <a:t>Быстрый доступ к актуальной информации</a:t>
          </a:r>
          <a:endParaRPr lang="en-US" sz="2400" dirty="0"/>
        </a:p>
      </dgm:t>
    </dgm:pt>
    <dgm:pt modelId="{40925937-A657-41D4-B113-836F44ADE881}" type="sibTrans" cxnId="{059BDBF5-0DB1-40F4-83A2-C2FEE8F9FBAD}">
      <dgm:prSet/>
      <dgm:spPr/>
      <dgm:t>
        <a:bodyPr/>
        <a:lstStyle/>
        <a:p>
          <a:endParaRPr lang="en-US"/>
        </a:p>
      </dgm:t>
    </dgm:pt>
    <dgm:pt modelId="{84656DEF-560A-45DA-838A-3D7FA06EE96D}" type="parTrans" cxnId="{059BDBF5-0DB1-40F4-83A2-C2FEE8F9FBAD}">
      <dgm:prSet/>
      <dgm:spPr/>
      <dgm:t>
        <a:bodyPr/>
        <a:lstStyle/>
        <a:p>
          <a:endParaRPr lang="en-US"/>
        </a:p>
      </dgm:t>
    </dgm:pt>
    <dgm:pt modelId="{B8090EDB-8C6A-48FD-9AA2-FC0A2D9D827B}">
      <dgm:prSet custT="1"/>
      <dgm:spPr>
        <a:solidFill>
          <a:schemeClr val="accent6"/>
        </a:solidFill>
      </dgm:spPr>
      <dgm:t>
        <a:bodyPr/>
        <a:lstStyle/>
        <a:p>
          <a:r>
            <a:rPr lang="ru-RU" sz="2400" dirty="0"/>
            <a:t>Повышение качества обслуживания</a:t>
          </a:r>
          <a:endParaRPr lang="en-US" sz="2400" dirty="0"/>
        </a:p>
      </dgm:t>
    </dgm:pt>
    <dgm:pt modelId="{A3BFCE9F-9304-453D-B414-75D603312358}" type="sibTrans" cxnId="{4D638777-80AC-4D52-8A22-788418DCCEBE}">
      <dgm:prSet/>
      <dgm:spPr/>
      <dgm:t>
        <a:bodyPr/>
        <a:lstStyle/>
        <a:p>
          <a:endParaRPr lang="en-US"/>
        </a:p>
      </dgm:t>
    </dgm:pt>
    <dgm:pt modelId="{EF4D4001-443F-4148-BC78-9722D6C2ADB3}" type="parTrans" cxnId="{4D638777-80AC-4D52-8A22-788418DCCEBE}">
      <dgm:prSet/>
      <dgm:spPr/>
      <dgm:t>
        <a:bodyPr/>
        <a:lstStyle/>
        <a:p>
          <a:endParaRPr lang="en-US"/>
        </a:p>
      </dgm:t>
    </dgm:pt>
    <dgm:pt modelId="{69E91059-E264-4E58-864E-917647789655}">
      <dgm:prSet custT="1"/>
      <dgm:spPr>
        <a:solidFill>
          <a:schemeClr val="accent6"/>
        </a:solidFill>
      </dgm:spPr>
      <dgm:t>
        <a:bodyPr/>
        <a:lstStyle/>
        <a:p>
          <a:r>
            <a:rPr lang="ru-RU" sz="2400" dirty="0"/>
            <a:t>Улучшение планирования</a:t>
          </a:r>
          <a:endParaRPr lang="en-US" sz="2400" dirty="0"/>
        </a:p>
      </dgm:t>
    </dgm:pt>
    <dgm:pt modelId="{2EE64222-350E-447C-A889-3BDBB229C910}" type="sibTrans" cxnId="{2494FCDD-9A0D-4AE4-9763-C0055EAFD2A6}">
      <dgm:prSet/>
      <dgm:spPr/>
      <dgm:t>
        <a:bodyPr/>
        <a:lstStyle/>
        <a:p>
          <a:endParaRPr lang="en-US"/>
        </a:p>
      </dgm:t>
    </dgm:pt>
    <dgm:pt modelId="{A9473632-B3EA-49C9-8389-0B19A625C34D}" type="parTrans" cxnId="{2494FCDD-9A0D-4AE4-9763-C0055EAFD2A6}">
      <dgm:prSet/>
      <dgm:spPr/>
      <dgm:t>
        <a:bodyPr/>
        <a:lstStyle/>
        <a:p>
          <a:endParaRPr lang="en-US"/>
        </a:p>
      </dgm:t>
    </dgm:pt>
    <dgm:pt modelId="{BBFEA115-36E5-46C7-848D-8938474418F0}" type="pres">
      <dgm:prSet presAssocID="{A7583521-7DF6-44A3-B3EC-0DD129119474}" presName="linear" presStyleCnt="0">
        <dgm:presLayoutVars>
          <dgm:animLvl val="lvl"/>
          <dgm:resizeHandles val="exact"/>
        </dgm:presLayoutVars>
      </dgm:prSet>
      <dgm:spPr/>
    </dgm:pt>
    <dgm:pt modelId="{65CD71BB-E544-492D-854B-39E04490E642}" type="pres">
      <dgm:prSet presAssocID="{94CAEA3A-18F0-44AB-96F8-03F1CF19BF6A}" presName="parentText" presStyleLbl="node1" presStyleIdx="0" presStyleCnt="4" custLinFactNeighborX="0" custLinFactNeighborY="23142">
        <dgm:presLayoutVars>
          <dgm:chMax val="0"/>
          <dgm:bulletEnabled val="1"/>
        </dgm:presLayoutVars>
      </dgm:prSet>
      <dgm:spPr/>
    </dgm:pt>
    <dgm:pt modelId="{EE335A40-7F73-41AA-A9DD-B80EF954661A}" type="pres">
      <dgm:prSet presAssocID="{583C48C9-4711-40CD-A715-7051C13F7B65}" presName="spacer" presStyleCnt="0"/>
      <dgm:spPr/>
    </dgm:pt>
    <dgm:pt modelId="{8DD8D4F5-4821-4AD7-BD29-B9EFBBEB9241}" type="pres">
      <dgm:prSet presAssocID="{DF60508B-6AC1-41B9-8E17-B773423720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08FE03-1F61-44B3-98A2-A7C381E9C84B}" type="pres">
      <dgm:prSet presAssocID="{40925937-A657-41D4-B113-836F44ADE881}" presName="spacer" presStyleCnt="0"/>
      <dgm:spPr/>
    </dgm:pt>
    <dgm:pt modelId="{AD08BC2C-422F-426F-945F-B4017D793795}" type="pres">
      <dgm:prSet presAssocID="{B8090EDB-8C6A-48FD-9AA2-FC0A2D9D82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10B23B-7779-465A-BA2F-08B8394B4735}" type="pres">
      <dgm:prSet presAssocID="{A3BFCE9F-9304-453D-B414-75D603312358}" presName="spacer" presStyleCnt="0"/>
      <dgm:spPr/>
    </dgm:pt>
    <dgm:pt modelId="{7CDD3E13-E618-45AD-AC8C-B003681AC654}" type="pres">
      <dgm:prSet presAssocID="{69E91059-E264-4E58-864E-9176477896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638777-80AC-4D52-8A22-788418DCCEBE}" srcId="{A7583521-7DF6-44A3-B3EC-0DD129119474}" destId="{B8090EDB-8C6A-48FD-9AA2-FC0A2D9D827B}" srcOrd="2" destOrd="0" parTransId="{EF4D4001-443F-4148-BC78-9722D6C2ADB3}" sibTransId="{A3BFCE9F-9304-453D-B414-75D603312358}"/>
    <dgm:cxn modelId="{E247147C-525A-4B9D-AE28-3FE99D07E712}" type="presOf" srcId="{DF60508B-6AC1-41B9-8E17-B773423720CD}" destId="{8DD8D4F5-4821-4AD7-BD29-B9EFBBEB9241}" srcOrd="0" destOrd="0" presId="urn:microsoft.com/office/officeart/2005/8/layout/vList2"/>
    <dgm:cxn modelId="{1B5AF48D-05B5-46CE-963D-D3151B87FD9C}" srcId="{A7583521-7DF6-44A3-B3EC-0DD129119474}" destId="{94CAEA3A-18F0-44AB-96F8-03F1CF19BF6A}" srcOrd="0" destOrd="0" parTransId="{3EAE032B-B7D8-4B06-BF99-89ED12B990AA}" sibTransId="{583C48C9-4711-40CD-A715-7051C13F7B65}"/>
    <dgm:cxn modelId="{A17C56A1-FDDC-408C-97C9-66B313DD0EAA}" type="presOf" srcId="{94CAEA3A-18F0-44AB-96F8-03F1CF19BF6A}" destId="{65CD71BB-E544-492D-854B-39E04490E642}" srcOrd="0" destOrd="0" presId="urn:microsoft.com/office/officeart/2005/8/layout/vList2"/>
    <dgm:cxn modelId="{2C4114A3-473C-40BF-9657-A34F3AD07249}" type="presOf" srcId="{69E91059-E264-4E58-864E-917647789655}" destId="{7CDD3E13-E618-45AD-AC8C-B003681AC654}" srcOrd="0" destOrd="0" presId="urn:microsoft.com/office/officeart/2005/8/layout/vList2"/>
    <dgm:cxn modelId="{35AFDFB3-5250-49D0-935F-7DF0985C564C}" type="presOf" srcId="{B8090EDB-8C6A-48FD-9AA2-FC0A2D9D827B}" destId="{AD08BC2C-422F-426F-945F-B4017D793795}" srcOrd="0" destOrd="0" presId="urn:microsoft.com/office/officeart/2005/8/layout/vList2"/>
    <dgm:cxn modelId="{9D685BB9-D2CC-469A-B590-D5435D6C83E8}" type="presOf" srcId="{A7583521-7DF6-44A3-B3EC-0DD129119474}" destId="{BBFEA115-36E5-46C7-848D-8938474418F0}" srcOrd="0" destOrd="0" presId="urn:microsoft.com/office/officeart/2005/8/layout/vList2"/>
    <dgm:cxn modelId="{2494FCDD-9A0D-4AE4-9763-C0055EAFD2A6}" srcId="{A7583521-7DF6-44A3-B3EC-0DD129119474}" destId="{69E91059-E264-4E58-864E-917647789655}" srcOrd="3" destOrd="0" parTransId="{A9473632-B3EA-49C9-8389-0B19A625C34D}" sibTransId="{2EE64222-350E-447C-A889-3BDBB229C910}"/>
    <dgm:cxn modelId="{059BDBF5-0DB1-40F4-83A2-C2FEE8F9FBAD}" srcId="{A7583521-7DF6-44A3-B3EC-0DD129119474}" destId="{DF60508B-6AC1-41B9-8E17-B773423720CD}" srcOrd="1" destOrd="0" parTransId="{84656DEF-560A-45DA-838A-3D7FA06EE96D}" sibTransId="{40925937-A657-41D4-B113-836F44ADE881}"/>
    <dgm:cxn modelId="{5743CACB-85D5-4980-98D5-7379FD9A4D5E}" type="presParOf" srcId="{BBFEA115-36E5-46C7-848D-8938474418F0}" destId="{65CD71BB-E544-492D-854B-39E04490E642}" srcOrd="0" destOrd="0" presId="urn:microsoft.com/office/officeart/2005/8/layout/vList2"/>
    <dgm:cxn modelId="{E09354E7-B6FD-434A-B0A0-A2CAB17C4507}" type="presParOf" srcId="{BBFEA115-36E5-46C7-848D-8938474418F0}" destId="{EE335A40-7F73-41AA-A9DD-B80EF954661A}" srcOrd="1" destOrd="0" presId="urn:microsoft.com/office/officeart/2005/8/layout/vList2"/>
    <dgm:cxn modelId="{DF88352E-E9FC-4238-A2FE-6C7F605CD83D}" type="presParOf" srcId="{BBFEA115-36E5-46C7-848D-8938474418F0}" destId="{8DD8D4F5-4821-4AD7-BD29-B9EFBBEB9241}" srcOrd="2" destOrd="0" presId="urn:microsoft.com/office/officeart/2005/8/layout/vList2"/>
    <dgm:cxn modelId="{0C7BB39E-8147-441E-B3D7-846D0C0A98F3}" type="presParOf" srcId="{BBFEA115-36E5-46C7-848D-8938474418F0}" destId="{7208FE03-1F61-44B3-98A2-A7C381E9C84B}" srcOrd="3" destOrd="0" presId="urn:microsoft.com/office/officeart/2005/8/layout/vList2"/>
    <dgm:cxn modelId="{7FD2F704-CD8E-47C5-A3CB-BC21B0B1DB9C}" type="presParOf" srcId="{BBFEA115-36E5-46C7-848D-8938474418F0}" destId="{AD08BC2C-422F-426F-945F-B4017D793795}" srcOrd="4" destOrd="0" presId="urn:microsoft.com/office/officeart/2005/8/layout/vList2"/>
    <dgm:cxn modelId="{FEF120BB-9F3F-4329-9F49-55781AEC8D42}" type="presParOf" srcId="{BBFEA115-36E5-46C7-848D-8938474418F0}" destId="{7610B23B-7779-465A-BA2F-08B8394B4735}" srcOrd="5" destOrd="0" presId="urn:microsoft.com/office/officeart/2005/8/layout/vList2"/>
    <dgm:cxn modelId="{5A79C1C8-B167-4551-A3A9-5BC1D8394D2F}" type="presParOf" srcId="{BBFEA115-36E5-46C7-848D-8938474418F0}" destId="{7CDD3E13-E618-45AD-AC8C-B003681AC6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D71BB-E544-492D-854B-39E04490E642}">
      <dsp:nvSpPr>
        <dsp:cNvPr id="0" name=""/>
        <dsp:cNvSpPr/>
      </dsp:nvSpPr>
      <dsp:spPr>
        <a:xfrm>
          <a:off x="0" y="56896"/>
          <a:ext cx="9404838" cy="786240"/>
        </a:xfrm>
        <a:prstGeom prst="roundRect">
          <a:avLst/>
        </a:prstGeom>
        <a:solidFill>
          <a:schemeClr val="accent6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Автоматизация процессов</a:t>
          </a:r>
          <a:endParaRPr lang="en-US" sz="2400" kern="1200" dirty="0"/>
        </a:p>
      </dsp:txBody>
      <dsp:txXfrm>
        <a:off x="38381" y="95277"/>
        <a:ext cx="9328076" cy="709478"/>
      </dsp:txXfrm>
    </dsp:sp>
    <dsp:sp modelId="{8DD8D4F5-4821-4AD7-BD29-B9EFBBEB9241}">
      <dsp:nvSpPr>
        <dsp:cNvPr id="0" name=""/>
        <dsp:cNvSpPr/>
      </dsp:nvSpPr>
      <dsp:spPr>
        <a:xfrm>
          <a:off x="0" y="936103"/>
          <a:ext cx="9404838" cy="786240"/>
        </a:xfrm>
        <a:prstGeom prst="round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Быстрый доступ к актуальной информации</a:t>
          </a:r>
          <a:endParaRPr lang="en-US" sz="2400" kern="1200" dirty="0"/>
        </a:p>
      </dsp:txBody>
      <dsp:txXfrm>
        <a:off x="38381" y="974484"/>
        <a:ext cx="9328076" cy="709478"/>
      </dsp:txXfrm>
    </dsp:sp>
    <dsp:sp modelId="{AD08BC2C-422F-426F-945F-B4017D793795}">
      <dsp:nvSpPr>
        <dsp:cNvPr id="0" name=""/>
        <dsp:cNvSpPr/>
      </dsp:nvSpPr>
      <dsp:spPr>
        <a:xfrm>
          <a:off x="0" y="1843303"/>
          <a:ext cx="9404838" cy="786240"/>
        </a:xfrm>
        <a:prstGeom prst="round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Повышение качества обслуживания</a:t>
          </a:r>
          <a:endParaRPr lang="en-US" sz="2400" kern="1200" dirty="0"/>
        </a:p>
      </dsp:txBody>
      <dsp:txXfrm>
        <a:off x="38381" y="1881684"/>
        <a:ext cx="9328076" cy="709478"/>
      </dsp:txXfrm>
    </dsp:sp>
    <dsp:sp modelId="{7CDD3E13-E618-45AD-AC8C-B003681AC654}">
      <dsp:nvSpPr>
        <dsp:cNvPr id="0" name=""/>
        <dsp:cNvSpPr/>
      </dsp:nvSpPr>
      <dsp:spPr>
        <a:xfrm>
          <a:off x="0" y="2750503"/>
          <a:ext cx="9404838" cy="786240"/>
        </a:xfrm>
        <a:prstGeom prst="round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Улучшение планирования</a:t>
          </a:r>
          <a:endParaRPr lang="en-US" sz="2400" kern="1200" dirty="0"/>
        </a:p>
      </dsp:txBody>
      <dsp:txXfrm>
        <a:off x="38381" y="2788884"/>
        <a:ext cx="9328076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D54DC-358E-4687-B4CF-443953AEBD6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D2FC-6040-4BED-8E9C-CB84E3D2A4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08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8D2FC-6040-4BED-8E9C-CB84E3D2A45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114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68D2FC-6040-4BED-8E9C-CB84E3D2A45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649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56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97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73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86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61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60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76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808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02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89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89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9A19947-F293-4B84-AC1E-43DBBD4C05B0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5130659-8D2F-4BE1-A669-9EA39A5CD7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49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F23555-6F98-0803-02C8-95E1EF4D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 bwMode="auto">
          <a:xfrm>
            <a:off x="307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3E70B-0EC9-C77B-9B41-5CCB280AB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chemeClr val="bg1"/>
                </a:solidFill>
              </a:rPr>
              <a:t>Проектирование базы данных для спортивного клуба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10D8CB-E95E-855C-AEC4-EDC17E03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3415" y="6219064"/>
            <a:ext cx="2775535" cy="638926"/>
          </a:xfrm>
        </p:spPr>
        <p:txBody>
          <a:bodyPr>
            <a:normAutofit/>
          </a:bodyPr>
          <a:lstStyle/>
          <a:p>
            <a:pPr algn="l"/>
            <a:r>
              <a:rPr lang="ru-RU" sz="1200" dirty="0">
                <a:solidFill>
                  <a:schemeClr val="bg1"/>
                </a:solidFill>
              </a:rPr>
              <a:t>Выполнила: Сушкинова Александра</a:t>
            </a:r>
          </a:p>
          <a:p>
            <a:pPr algn="l"/>
            <a:r>
              <a:rPr lang="ru-RU" sz="1200" dirty="0">
                <a:solidFill>
                  <a:schemeClr val="bg1"/>
                </a:solidFill>
              </a:rPr>
              <a:t>Группа ИС24К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07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BABFBBD-0996-AA77-3116-CE90AF3B4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073116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4CAC9B-E7EF-31F5-C4CD-8984FFDD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Описание спортивного клуба и его деятельности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85788-5211-4248-13A6-13FDD6AC7F47}"/>
              </a:ext>
            </a:extLst>
          </p:cNvPr>
          <p:cNvSpPr txBox="1"/>
          <p:nvPr/>
        </p:nvSpPr>
        <p:spPr>
          <a:xfrm>
            <a:off x="709613" y="1655703"/>
            <a:ext cx="106441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Основные направления: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Кардио и силовые тренировки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Групповые занятия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Персональные тренировки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Продажа абонементов и разовых посещений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Аренда снаряжения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E19AB-B761-64C8-9AD5-7E708B93997C}"/>
              </a:ext>
            </a:extLst>
          </p:cNvPr>
          <p:cNvSpPr txBox="1"/>
          <p:nvPr/>
        </p:nvSpPr>
        <p:spPr>
          <a:xfrm>
            <a:off x="838200" y="4397434"/>
            <a:ext cx="79646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Цель БД: Автоматизировать управление клиентами, тренерами, расписанием </a:t>
            </a:r>
            <a:r>
              <a:rPr lang="ru-RU" sz="2400"/>
              <a:t>и финансами.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92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8E142-9538-29D7-6776-8EFFA03E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Преимущества и ожидаемые результаты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38A14FF8-16A0-E61D-B9C1-8A9077594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765734"/>
              </p:ext>
            </p:extLst>
          </p:nvPr>
        </p:nvGraphicFramePr>
        <p:xfrm>
          <a:off x="635978" y="2171700"/>
          <a:ext cx="9404838" cy="3565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20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1529EE-A0DE-B5CD-30D5-831BB9467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3152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700AB-8BCA-9A76-4AAF-454BD87B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Функциональные требования (Что система должна делать):</a:t>
            </a:r>
            <a:br>
              <a:rPr lang="ru-RU" sz="2800" dirty="0"/>
            </a:b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0F1E15-A58E-094F-7634-EE4111FBF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42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br>
              <a:rPr lang="ru-RU" sz="2000" dirty="0"/>
            </a:br>
            <a:r>
              <a:rPr lang="ru-RU" sz="2400" dirty="0"/>
              <a:t>• </a:t>
            </a:r>
            <a:r>
              <a:rPr lang="ru-RU" sz="2000" dirty="0"/>
              <a:t>Регистрация и управление данными членов клуба.</a:t>
            </a:r>
            <a:br>
              <a:rPr lang="ru-RU" sz="1800" dirty="0"/>
            </a:br>
            <a:r>
              <a:rPr lang="ru-RU" sz="2000" dirty="0"/>
              <a:t>• Продажа, продление и учет абонементов.</a:t>
            </a:r>
            <a:br>
              <a:rPr lang="ru-RU" sz="1800" dirty="0"/>
            </a:br>
            <a:r>
              <a:rPr lang="ru-RU" sz="2000" dirty="0"/>
              <a:t>• Управление расписанием групповых занятий и персональных тренировок.</a:t>
            </a:r>
            <a:br>
              <a:rPr lang="ru-RU" sz="1800" dirty="0"/>
            </a:br>
            <a:r>
              <a:rPr lang="ru-RU" sz="2000" dirty="0"/>
              <a:t>• Регистрация платежей и формирование квитанций.</a:t>
            </a:r>
          </a:p>
        </p:txBody>
      </p:sp>
    </p:spTree>
    <p:extLst>
      <p:ext uri="{BB962C8B-B14F-4D97-AF65-F5344CB8AC3E}">
        <p14:creationId xmlns:p14="http://schemas.microsoft.com/office/powerpoint/2010/main" val="268724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C966D-866C-2061-08BA-D83E03CB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структура и связи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7AD68A-3312-3A3A-2259-C09AC3AC3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485" y="1611558"/>
            <a:ext cx="4947138" cy="25265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1800" dirty="0"/>
              <a:t>Основные таблицы базы данных</a:t>
            </a:r>
          </a:p>
          <a:p>
            <a:pPr marL="0" indent="0">
              <a:buNone/>
            </a:pPr>
            <a:r>
              <a:rPr lang="ru-RU" sz="1800" dirty="0"/>
              <a:t>Созданы таблицы Клиенты , Персонал, Занятия, Абонементы и Оплаты — каждая содержит уникальные данные, необходимые для работы клуба и взаимодействия сущностей.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B1AC1-A969-0297-84BE-2C87C508F915}"/>
              </a:ext>
            </a:extLst>
          </p:cNvPr>
          <p:cNvSpPr txBox="1"/>
          <p:nvPr/>
        </p:nvSpPr>
        <p:spPr>
          <a:xfrm>
            <a:off x="6784730" y="1611558"/>
            <a:ext cx="4214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Связи один-ко-многим</a:t>
            </a:r>
          </a:p>
          <a:p>
            <a:r>
              <a:rPr lang="ru-RU" dirty="0"/>
              <a:t>Клиент может иметь несколько абонементов — это связь один-ко-многим, реализованная через внешние ключи в таблицах для сохранения целостности информации.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3" y="3577775"/>
            <a:ext cx="2530642" cy="29151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730" y="3577775"/>
            <a:ext cx="4565498" cy="291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8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258BD-D904-1413-02FF-720AFF2A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</a:t>
            </a:r>
            <a:r>
              <a:rPr lang="ru-RU" sz="3600" dirty="0"/>
              <a:t>Анализ предметной области и сбор требований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6EBB8B-07CA-CC6F-6564-22FE088880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Клуб предлагает широкий спектр услуг: тренажерный зал, групповые фитнес-тренировки (йога, пилатес, силовые), персональные тренировки, возможно, бассейн или спортивные секции.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FAE240-D0E5-11DE-EBB2-11447329D8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Персонал включает администраторов, тренеров. Члены клуба имеют различные типы абонементов. Важными активами являются спортивный инвентарь и оборудование, требующие учета.</a:t>
            </a:r>
          </a:p>
        </p:txBody>
      </p:sp>
      <p:pic>
        <p:nvPicPr>
          <p:cNvPr id="6" name="Picture 2" descr="Figures Silhouette PNG Images, Fitness Silhouette Figures, Fitness, Work Out, Mo">
            <a:extLst>
              <a:ext uri="{FF2B5EF4-FFF2-40B4-BE49-F238E27FC236}">
                <a16:creationId xmlns:a16="http://schemas.microsoft.com/office/drawing/2014/main" id="{C5D8CB7F-74B6-247F-175C-A303D4DDC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45" y="3752299"/>
            <a:ext cx="4572000" cy="22518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DADDFE3-6310-53AE-7F3C-1363F14B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752299"/>
            <a:ext cx="4572000" cy="22955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33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742398" cy="1325563"/>
          </a:xfrm>
        </p:spPr>
        <p:txBody>
          <a:bodyPr/>
          <a:lstStyle/>
          <a:p>
            <a:r>
              <a:rPr lang="ru-RU" dirty="0"/>
              <a:t>Запросы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31" y="3835609"/>
            <a:ext cx="3459162" cy="117239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83" y="1914068"/>
            <a:ext cx="2372056" cy="11622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626" y="1914068"/>
            <a:ext cx="4410691" cy="11622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418" y="3845796"/>
            <a:ext cx="3038899" cy="1162212"/>
          </a:xfrm>
          <a:prstGeom prst="rect">
            <a:avLst/>
          </a:prstGeom>
        </p:spPr>
      </p:pic>
      <p:sp>
        <p:nvSpPr>
          <p:cNvPr id="10" name="Овальная выноска 9"/>
          <p:cNvSpPr/>
          <p:nvPr/>
        </p:nvSpPr>
        <p:spPr>
          <a:xfrm>
            <a:off x="8921292" y="228759"/>
            <a:ext cx="2993457" cy="1850916"/>
          </a:xfrm>
          <a:prstGeom prst="wedgeEllipseCallout">
            <a:avLst>
              <a:gd name="adj1" fmla="val -83641"/>
              <a:gd name="adj2" fmla="val 3944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325552" y="738718"/>
            <a:ext cx="2184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Для чего нужны?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D9ECC-E17F-4466-D987-AB4E5353BC48}"/>
              </a:ext>
            </a:extLst>
          </p:cNvPr>
          <p:cNvSpPr txBox="1"/>
          <p:nvPr/>
        </p:nvSpPr>
        <p:spPr>
          <a:xfrm>
            <a:off x="8301687" y="2495174"/>
            <a:ext cx="3613062" cy="1634490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Запросы нужны для поиска и взаимодействия с информацией, а также для управления и обработки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0301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942" y="69732"/>
            <a:ext cx="10515600" cy="1325563"/>
          </a:xfrm>
        </p:spPr>
        <p:txBody>
          <a:bodyPr/>
          <a:lstStyle/>
          <a:p>
            <a:r>
              <a:rPr lang="ru-RU" dirty="0"/>
              <a:t>Формы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5" y="1163842"/>
            <a:ext cx="4044171" cy="2434144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663" y="3904663"/>
            <a:ext cx="5282764" cy="280874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21" y="3904663"/>
            <a:ext cx="4700784" cy="28087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505" y="1287828"/>
            <a:ext cx="58190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Формы служат удобным интерфейсом для ввода, редактирования и просмотра данных</a:t>
            </a:r>
            <a:r>
              <a:rPr lang="ru-RU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9932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17B11-BE26-7FF8-AA0D-312468EA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Отчеты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49" y="3695671"/>
            <a:ext cx="7853431" cy="191479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979507"/>
            <a:ext cx="7853431" cy="2143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35808" y="2861321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Итого:</a:t>
            </a:r>
            <a:endParaRPr lang="en-US" sz="14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35808" y="5348853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Итого:</a:t>
            </a:r>
            <a:endParaRPr lang="en-US" sz="14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E0149-8803-FC58-FD32-C6CD89F36D8E}"/>
              </a:ext>
            </a:extLst>
          </p:cNvPr>
          <p:cNvSpPr txBox="1"/>
          <p:nvPr/>
        </p:nvSpPr>
        <p:spPr>
          <a:xfrm>
            <a:off x="422030" y="1690688"/>
            <a:ext cx="26918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Отчёты предназначены для вывода итоговой информации в печатном или электронном виде. </a:t>
            </a:r>
          </a:p>
        </p:txBody>
      </p:sp>
    </p:spTree>
    <p:extLst>
      <p:ext uri="{BB962C8B-B14F-4D97-AF65-F5344CB8AC3E}">
        <p14:creationId xmlns:p14="http://schemas.microsoft.com/office/powerpoint/2010/main" val="2844014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3E3B5F-BCE4-272F-BB0F-39CD9AB1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338" y="0"/>
            <a:ext cx="529191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2526C-5E30-CB80-9142-F1884B24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Заключение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E97848-BEE4-B136-55E4-5A58A80E8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22" y="1710838"/>
            <a:ext cx="6301155" cy="4351338"/>
          </a:xfrm>
        </p:spPr>
        <p:txBody>
          <a:bodyPr>
            <a:normAutofit/>
          </a:bodyPr>
          <a:lstStyle/>
          <a:p>
            <a:r>
              <a:rPr lang="ru-RU" sz="1800" dirty="0"/>
              <a:t>Проектирование базы данных – это фундаментальный этап создания информационной системы. Мы рассмотрели ключевые шаги: от анализа требований и построения ER-диаграммы до логического и физического проектирования, обеспечив надежность и безопасность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046113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9EEA041-A357-2C9A-4438-B8B5200C8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087225" cy="6858000"/>
          </a:xfrm>
        </p:spPr>
        <p:txBody>
          <a:bodyPr/>
          <a:lstStyle/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81881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  <wetp:taskpane dockstate="right" visibility="0" width="350" row="7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B4ED5EA-79B7-4E99-B748-0D6E7080AF60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6EC453F-8E2C-4E9B-BB89-E991F07B68A1}">
  <we:reference id="wa104178141" version="4.3.3.0" store="ru-RU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570</TotalTime>
  <Words>317</Words>
  <Application>Microsoft Office PowerPoint</Application>
  <PresentationFormat>Широкоэкранный</PresentationFormat>
  <Paragraphs>46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Проектирование базы данных для спортивного клуба</vt:lpstr>
      <vt:lpstr>Описание спортивного клуба и его деятельности</vt:lpstr>
      <vt:lpstr>Преимущества и ожидаемые результаты</vt:lpstr>
      <vt:lpstr>Функциональные требования (Что система должна делать): </vt:lpstr>
      <vt:lpstr>структура и связи</vt:lpstr>
      <vt:lpstr> Анализ предметной области и сбор требований</vt:lpstr>
      <vt:lpstr>Запросы</vt:lpstr>
      <vt:lpstr>Формы</vt:lpstr>
      <vt:lpstr>Отчеты</vt:lpstr>
      <vt:lpstr>Заключение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базы данных для спортивного клуба</dc:title>
  <dc:creator>User</dc:creator>
  <cp:lastModifiedBy>Саша Сушкинова</cp:lastModifiedBy>
  <cp:revision>30</cp:revision>
  <dcterms:created xsi:type="dcterms:W3CDTF">2025-11-13T05:22:17Z</dcterms:created>
  <dcterms:modified xsi:type="dcterms:W3CDTF">2025-12-09T01:01:59Z</dcterms:modified>
</cp:coreProperties>
</file>